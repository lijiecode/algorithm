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handoutMasterIdLst>
    <p:handoutMasterId r:id="rId40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382" autoAdjust="0"/>
    <p:restoredTop sz="93958" autoAdjust="0"/>
  </p:normalViewPr>
  <p:slideViewPr>
    <p:cSldViewPr snapToGrid="0" showGuides="1">
      <p:cViewPr varScale="1">
        <p:scale>
          <a:sx n="87" d="100"/>
          <a:sy n="87" d="100"/>
        </p:scale>
        <p:origin x="648" y="77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6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3" Type="http://schemas.openxmlformats.org/officeDocument/2006/relationships/tableStyles" Target="tableStyles.xml"/><Relationship Id="rId42" Type="http://schemas.openxmlformats.org/officeDocument/2006/relationships/viewProps" Target="viewProps.xml"/><Relationship Id="rId41" Type="http://schemas.openxmlformats.org/officeDocument/2006/relationships/presProps" Target="presProps.xml"/><Relationship Id="rId40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39" Type="http://schemas.openxmlformats.org/officeDocument/2006/relationships/slide" Target="slides/slide37.xml"/><Relationship Id="rId38" Type="http://schemas.openxmlformats.org/officeDocument/2006/relationships/slide" Target="slides/slide36.xml"/><Relationship Id="rId37" Type="http://schemas.openxmlformats.org/officeDocument/2006/relationships/slide" Target="slides/slide35.xml"/><Relationship Id="rId36" Type="http://schemas.openxmlformats.org/officeDocument/2006/relationships/slide" Target="slides/slide34.xml"/><Relationship Id="rId35" Type="http://schemas.openxmlformats.org/officeDocument/2006/relationships/slide" Target="slides/slide33.xml"/><Relationship Id="rId34" Type="http://schemas.openxmlformats.org/officeDocument/2006/relationships/slide" Target="slides/slide32.xml"/><Relationship Id="rId33" Type="http://schemas.openxmlformats.org/officeDocument/2006/relationships/slide" Target="slides/slide31.xml"/><Relationship Id="rId32" Type="http://schemas.openxmlformats.org/officeDocument/2006/relationships/slide" Target="slides/slide30.xml"/><Relationship Id="rId31" Type="http://schemas.openxmlformats.org/officeDocument/2006/relationships/slide" Target="slides/slide29.xml"/><Relationship Id="rId30" Type="http://schemas.openxmlformats.org/officeDocument/2006/relationships/slide" Target="slides/slide28.xml"/><Relationship Id="rId3" Type="http://schemas.openxmlformats.org/officeDocument/2006/relationships/slide" Target="slides/slide1.xml"/><Relationship Id="rId29" Type="http://schemas.openxmlformats.org/officeDocument/2006/relationships/slide" Target="slides/slide27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23F7D88-C381-411A-8152-80318B2FD26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7A8AB1-D1F2-4FDF-8E5D-9371BF0E193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BAD5C3-5437-4E1D-BB85-5CFEAD3B5A27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70A2F6-3093-4BBD-A61C-B1F469163AD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" y="1"/>
            <a:ext cx="4008582" cy="10726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</a:t>
            </a:r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zh-CN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]</a:t>
            </a:r>
            <a:r>
              <a:rPr lang="en-US" altLang="zh-C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= 0</a:t>
            </a:r>
            <a:endParaRPr lang="en-US" altLang="zh-CN" sz="2400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kumimoji="0" lang="zh-CN" altLang="zh-CN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res[i] = res[i &gt;&gt; 1] + (i &amp; 1);</a:t>
            </a:r>
            <a:endParaRPr kumimoji="0" lang="zh-CN" altLang="zh-CN" sz="36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7" name="表格 7"/>
          <p:cNvGraphicFramePr>
            <a:graphicFrameLocks noGrp="1"/>
          </p:cNvGraphicFramePr>
          <p:nvPr/>
        </p:nvGraphicFramePr>
        <p:xfrm>
          <a:off x="527537" y="1921260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/>
                <a:gridCol w="526473"/>
                <a:gridCol w="459468"/>
                <a:gridCol w="593478"/>
                <a:gridCol w="526473"/>
                <a:gridCol w="526473"/>
                <a:gridCol w="526473"/>
                <a:gridCol w="526473"/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8" name="表格 7"/>
          <p:cNvGraphicFramePr>
            <a:graphicFrameLocks noGrp="1"/>
          </p:cNvGraphicFramePr>
          <p:nvPr/>
        </p:nvGraphicFramePr>
        <p:xfrm>
          <a:off x="527537" y="2966846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/>
                <a:gridCol w="526473"/>
                <a:gridCol w="459468"/>
                <a:gridCol w="593478"/>
                <a:gridCol w="526473"/>
                <a:gridCol w="526473"/>
                <a:gridCol w="526473"/>
                <a:gridCol w="526473"/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0" name="矩形 9"/>
          <p:cNvSpPr/>
          <p:nvPr/>
        </p:nvSpPr>
        <p:spPr>
          <a:xfrm>
            <a:off x="4008582" y="1"/>
            <a:ext cx="6973010" cy="1072662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i &gt;&gt; 1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 :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带符号右移</a:t>
            </a:r>
            <a:endParaRPr kumimoji="0" lang="en-US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ea typeface="JetBrains Mono"/>
              <a:cs typeface="Times New Roman" panose="02020603050405020304" pitchFamily="18" charset="0"/>
            </a:endParaRPr>
          </a:p>
          <a:p>
            <a:pPr algn="ctr"/>
            <a:r>
              <a:rPr kumimoji="0" lang="zh-CN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(i &amp; 1)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 : 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0 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表示</a:t>
            </a:r>
            <a:r>
              <a:rPr kumimoji="0" lang="en-US" altLang="zh-CN" sz="2000" b="0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i</a:t>
            </a:r>
            <a:r>
              <a:rPr kumimoji="0" lang="zh-CN" altLang="en-US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为偶数，为</a:t>
            </a:r>
            <a:r>
              <a:rPr kumimoji="0" lang="en-US" altLang="zh-CN" sz="20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表示</a:t>
            </a:r>
            <a:r>
              <a:rPr lang="en-US" altLang="zh-CN" sz="2000" dirty="0" err="1">
                <a:solidFill>
                  <a:schemeClr val="bg1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i</a:t>
            </a:r>
            <a:r>
              <a:rPr lang="zh-CN" altLang="en-US" sz="2000" dirty="0">
                <a:solidFill>
                  <a:schemeClr val="bg1"/>
                </a:solidFill>
                <a:latin typeface="Times New Roman" panose="02020603050405020304" pitchFamily="18" charset="0"/>
                <a:ea typeface="JetBrains Mono"/>
                <a:cs typeface="Times New Roman" panose="02020603050405020304" pitchFamily="18" charset="0"/>
              </a:rPr>
              <a:t>是奇数</a:t>
            </a:r>
            <a:endParaRPr kumimoji="0" lang="zh-CN" altLang="zh-CN" sz="20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27537" y="1503687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27536" y="2408514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527536" y="3495008"/>
            <a:ext cx="3070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res[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res[0] + 1 = 1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1) = 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1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是奇数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17" name="表格 7"/>
          <p:cNvGraphicFramePr>
            <a:graphicFrameLocks noGrp="1"/>
          </p:cNvGraphicFramePr>
          <p:nvPr/>
        </p:nvGraphicFramePr>
        <p:xfrm>
          <a:off x="7010400" y="1921260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/>
                <a:gridCol w="526473"/>
                <a:gridCol w="459468"/>
                <a:gridCol w="593478"/>
                <a:gridCol w="526473"/>
                <a:gridCol w="526473"/>
                <a:gridCol w="526473"/>
                <a:gridCol w="526473"/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7010400" y="2966846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/>
                <a:gridCol w="526473"/>
                <a:gridCol w="459468"/>
                <a:gridCol w="593478"/>
                <a:gridCol w="526473"/>
                <a:gridCol w="526473"/>
                <a:gridCol w="526473"/>
                <a:gridCol w="526473"/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9" name="文本框 18"/>
          <p:cNvSpPr txBox="1"/>
          <p:nvPr/>
        </p:nvSpPr>
        <p:spPr>
          <a:xfrm>
            <a:off x="7010400" y="1503687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文本框 19"/>
          <p:cNvSpPr txBox="1"/>
          <p:nvPr/>
        </p:nvSpPr>
        <p:spPr>
          <a:xfrm>
            <a:off x="7010399" y="2408514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7010399" y="3495008"/>
            <a:ext cx="3070401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res[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res[1] =1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1) = 0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偶数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22" name="表格 7"/>
          <p:cNvGraphicFramePr>
            <a:graphicFrameLocks noGrp="1"/>
          </p:cNvGraphicFramePr>
          <p:nvPr/>
        </p:nvGraphicFramePr>
        <p:xfrm>
          <a:off x="3900854" y="4506167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/>
                <a:gridCol w="526473"/>
                <a:gridCol w="459468"/>
                <a:gridCol w="593478"/>
                <a:gridCol w="526473"/>
                <a:gridCol w="526473"/>
                <a:gridCol w="526473"/>
                <a:gridCol w="526473"/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3900854" y="5551753"/>
          <a:ext cx="4211784" cy="40717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6473"/>
                <a:gridCol w="526473"/>
                <a:gridCol w="459468"/>
                <a:gridCol w="593478"/>
                <a:gridCol w="526473"/>
                <a:gridCol w="526473"/>
                <a:gridCol w="526473"/>
                <a:gridCol w="526473"/>
              </a:tblGrid>
              <a:tr h="40717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/>
                        <a:t>1</a:t>
                      </a:r>
                      <a:endParaRPr lang="zh-CN" altLang="en-US" dirty="0"/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4" name="文本框 23"/>
          <p:cNvSpPr txBox="1"/>
          <p:nvPr/>
        </p:nvSpPr>
        <p:spPr>
          <a:xfrm>
            <a:off x="3900854" y="4088594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zh-CN" altLang="en-US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5" name="文本框 24"/>
          <p:cNvSpPr txBox="1"/>
          <p:nvPr/>
        </p:nvSpPr>
        <p:spPr>
          <a:xfrm>
            <a:off x="3900853" y="4993421"/>
            <a:ext cx="120996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&gt;&gt; 1</a:t>
            </a:r>
            <a:endParaRPr lang="zh-CN" alt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3900853" y="6079915"/>
            <a:ext cx="307040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res[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] = res[1] + 1 =2</a:t>
            </a:r>
            <a:endParaRPr lang="en-US" altLang="zh-C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(</a:t>
            </a:r>
            <a:r>
              <a:rPr lang="en-US" altLang="zh-C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lang="en-US" altLang="zh-C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1) = 1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表示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3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  <a:cs typeface="Times New Roman" panose="02020603050405020304" pitchFamily="18" charset="0"/>
              </a:rPr>
              <a:t>是奇数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  <a:cs typeface="Times New Roman" panose="02020603050405020304" pitchFamily="18" charset="0"/>
            </a:endParaRPr>
          </a:p>
        </p:txBody>
      </p:sp>
      <p:pic>
        <p:nvPicPr>
          <p:cNvPr id="29" name="图片 2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376" y="0"/>
            <a:ext cx="1071037" cy="107266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15376" y="0"/>
            <a:ext cx="1071037" cy="1072662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287</Words>
  <Application>WPS 演示</Application>
  <PresentationFormat>宽屏</PresentationFormat>
  <Paragraphs>123</Paragraphs>
  <Slides>37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37</vt:i4>
      </vt:variant>
    </vt:vector>
  </HeadingPairs>
  <TitlesOfParts>
    <vt:vector size="57" baseType="lpstr">
      <vt:lpstr>Arial</vt:lpstr>
      <vt:lpstr>宋体</vt:lpstr>
      <vt:lpstr>Wingdings</vt:lpstr>
      <vt:lpstr>Times New Roman</vt:lpstr>
      <vt:lpstr>JetBrains Mono</vt:lpstr>
      <vt:lpstr>Thonburi</vt:lpstr>
      <vt:lpstr>微软雅黑</vt:lpstr>
      <vt:lpstr>宋体</vt:lpstr>
      <vt:lpstr>汉仪书宋二KW</vt:lpstr>
      <vt:lpstr>汉仪旗黑</vt:lpstr>
      <vt:lpstr>等线</vt:lpstr>
      <vt:lpstr>汉仪中等线KW</vt:lpstr>
      <vt:lpstr>Arial Unicode MS</vt:lpstr>
      <vt:lpstr>Calibri</vt:lpstr>
      <vt:lpstr>Helvetica Neue</vt:lpstr>
      <vt:lpstr>等线 Light</vt:lpstr>
      <vt:lpstr>JetBrains Mono</vt:lpstr>
      <vt:lpstr>微软雅黑</vt:lpstr>
      <vt:lpstr>苹方-简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L9ZYR</dc:creator>
  <cp:lastModifiedBy>bytedance</cp:lastModifiedBy>
  <cp:revision>4</cp:revision>
  <dcterms:created xsi:type="dcterms:W3CDTF">2023-06-19T06:43:58Z</dcterms:created>
  <dcterms:modified xsi:type="dcterms:W3CDTF">2023-06-19T06:43:58Z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0B2CD87BAAD12CAA2EF98F64C7A39830_42</vt:lpwstr>
  </property>
  <property fmtid="{D5CDD505-2E9C-101B-9397-08002B2CF9AE}" pid="3" name="KSOProductBuildVer">
    <vt:lpwstr>2052-5.5.0.7954</vt:lpwstr>
  </property>
</Properties>
</file>